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uce" charset="1" panose="00000500000000000000"/>
      <p:regular r:id="rId25"/>
    </p:embeddedFont>
    <p:embeddedFont>
      <p:font typeface="Open Sauce Bold Italics" charset="1" panose="00000800000000000000"/>
      <p:regular r:id="rId26"/>
    </p:embeddedFont>
    <p:embeddedFont>
      <p:font typeface="Racing Sans One" charset="1" panose="02000000000000000000"/>
      <p:regular r:id="rId27"/>
    </p:embeddedFont>
    <p:embeddedFont>
      <p:font typeface="Anton Italics" charset="1" panose="00000500000000000000"/>
      <p:regular r:id="rId28"/>
    </p:embeddedFont>
    <p:embeddedFont>
      <p:font typeface="Anton" charset="1" panose="00000500000000000000"/>
      <p:regular r:id="rId29"/>
    </p:embeddedFont>
    <p:embeddedFont>
      <p:font typeface="Open Sauce Bold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1.png" Type="http://schemas.openxmlformats.org/officeDocument/2006/relationships/image"/><Relationship Id="rId7" Target="../media/image2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1.pn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rive.google.com/file/d/1_2a566Gy3LzVn-g2IxZ7ZtyQ9kF_dMed/view?usp=sharing" TargetMode="External" Type="http://schemas.openxmlformats.org/officeDocument/2006/relationships/hyperlink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004219"/>
            <a:ext cx="3655851" cy="425408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2"/>
              <a:stretch>
                <a:fillRect l="-53378" t="0" r="-2127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03449" y="5004219"/>
            <a:ext cx="3655851" cy="4254081"/>
            <a:chOff x="0" y="0"/>
            <a:chExt cx="6985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37327" t="0" r="-3732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9004997" y="7820696"/>
            <a:ext cx="278005" cy="461420"/>
          </a:xfrm>
          <a:custGeom>
            <a:avLst/>
            <a:gdLst/>
            <a:ahLst/>
            <a:cxnLst/>
            <a:rect r="r" b="b" t="t" l="l"/>
            <a:pathLst>
              <a:path h="461420" w="278005">
                <a:moveTo>
                  <a:pt x="0" y="0"/>
                </a:moveTo>
                <a:lnTo>
                  <a:pt x="278006" y="0"/>
                </a:lnTo>
                <a:lnTo>
                  <a:pt x="278006" y="461420"/>
                </a:lnTo>
                <a:lnTo>
                  <a:pt x="0" y="461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6951" y="1028700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3"/>
                </a:lnTo>
                <a:lnTo>
                  <a:pt x="0" y="349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64030" y="8984615"/>
            <a:ext cx="157997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3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Realizado por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8984615"/>
            <a:ext cx="157997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i="true" spc="-31">
                <a:solidFill>
                  <a:srgbClr val="EDF2F4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Aitor de la Osa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2200935" y="1028700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5063371" y="0"/>
                </a:moveTo>
                <a:lnTo>
                  <a:pt x="0" y="0"/>
                </a:lnTo>
                <a:lnTo>
                  <a:pt x="0" y="349833"/>
                </a:lnTo>
                <a:lnTo>
                  <a:pt x="5063371" y="349833"/>
                </a:lnTo>
                <a:lnTo>
                  <a:pt x="506337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2063" y="336591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0" y="0"/>
                </a:moveTo>
                <a:lnTo>
                  <a:pt x="530920" y="0"/>
                </a:lnTo>
                <a:lnTo>
                  <a:pt x="530920" y="250981"/>
                </a:lnTo>
                <a:lnTo>
                  <a:pt x="0" y="2509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805017" y="336591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530920" y="0"/>
                </a:moveTo>
                <a:lnTo>
                  <a:pt x="0" y="0"/>
                </a:lnTo>
                <a:lnTo>
                  <a:pt x="0" y="250981"/>
                </a:lnTo>
                <a:lnTo>
                  <a:pt x="530920" y="250981"/>
                </a:lnTo>
                <a:lnTo>
                  <a:pt x="5309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77191" y="4960732"/>
            <a:ext cx="2065343" cy="2027245"/>
          </a:xfrm>
          <a:custGeom>
            <a:avLst/>
            <a:gdLst/>
            <a:ahLst/>
            <a:cxnLst/>
            <a:rect r="r" b="b" t="t" l="l"/>
            <a:pathLst>
              <a:path h="2027245" w="2065343">
                <a:moveTo>
                  <a:pt x="0" y="0"/>
                </a:moveTo>
                <a:lnTo>
                  <a:pt x="2065343" y="0"/>
                </a:lnTo>
                <a:lnTo>
                  <a:pt x="2065343" y="2027245"/>
                </a:lnTo>
                <a:lnTo>
                  <a:pt x="0" y="20272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11974" y="3849700"/>
            <a:ext cx="5661121" cy="17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2"/>
              </a:lnSpc>
            </a:pPr>
            <a:r>
              <a:rPr lang="en-US" sz="18103" spc="-887">
                <a:solidFill>
                  <a:srgbClr val="E5E5E5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sport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43766" y="5455592"/>
            <a:ext cx="4832260" cy="17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2"/>
              </a:lnSpc>
            </a:pPr>
            <a:r>
              <a:rPr lang="en-US" sz="18103" spc="-887">
                <a:solidFill>
                  <a:srgbClr val="E5E5E5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data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2420" y="1181100"/>
            <a:ext cx="16230600" cy="127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8"/>
              </a:lnSpc>
            </a:pPr>
            <a:r>
              <a:rPr lang="en-US" sz="9400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DESCRIPCIÓN DEL PROYECTO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49865" y="4121186"/>
            <a:ext cx="13375709" cy="255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599" spc="-7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SportData es una aplicacion web para explorar y comprar material deportivo.</a:t>
            </a:r>
          </a:p>
          <a:p>
            <a:pPr algn="ctr">
              <a:lnSpc>
                <a:spcPts val="3379"/>
              </a:lnSpc>
            </a:pPr>
            <a:r>
              <a:rPr lang="en-US" sz="2599" spc="-7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 Se apoya en una arquitectura de microservicios conectados a través de un API Gateway, que expone tanto la interfaz HTML5 como una API REST documentada con OpenAPI 3.0.</a:t>
            </a:r>
          </a:p>
          <a:p>
            <a:pPr algn="ctr">
              <a:lnSpc>
                <a:spcPts val="3379"/>
              </a:lnSpc>
            </a:pPr>
            <a:r>
              <a:rPr lang="en-US" sz="2599" spc="-7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 El usuario puede navegar el catálogo, gestionar carrito, tramitar pedidos, marcar favoritos y administrar su cuenta.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82327" y="3435686"/>
            <a:ext cx="4353636" cy="5066049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2"/>
              <a:stretch>
                <a:fillRect l="-37327" t="0" r="-3732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9372" y="3085853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0" y="0"/>
                </a:lnTo>
                <a:lnTo>
                  <a:pt x="5063370" y="349833"/>
                </a:lnTo>
                <a:lnTo>
                  <a:pt x="0" y="349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732261" y="9083384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2"/>
                </a:lnTo>
                <a:lnTo>
                  <a:pt x="0" y="349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62742" y="838200"/>
            <a:ext cx="9692004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OBJETIVOS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9372" y="6173470"/>
            <a:ext cx="4361597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Ofrecer una plataforma intuitiva y que sea fácil  de navegar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038725"/>
            <a:ext cx="263247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Usabilidad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9372" y="6934200"/>
            <a:ext cx="4361597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Permitir a los usuarios explorar diferentes productos del catalogo disponible y realizar compras sin ningún tipo de dificultad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55188" y="3121660"/>
            <a:ext cx="4361597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Permitir el registro, inicio de sesión y edición del perfil de cada usuario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55188" y="2010410"/>
            <a:ext cx="403071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Personalización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55188" y="3882390"/>
            <a:ext cx="4361597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Guardar artículos en favoritos, realizar pedidos y gestionar el carrito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20630" y="5319395"/>
            <a:ext cx="272846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Centralizar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55188" y="6430645"/>
            <a:ext cx="4361597" cy="154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Centralizar el acceso a servicios mediante API Gateway (ruteo y proxy inverso).</a:t>
            </a:r>
          </a:p>
          <a:p>
            <a:pPr algn="l">
              <a:lnSpc>
                <a:spcPts val="2079"/>
              </a:lnSpc>
            </a:pPr>
          </a:p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Exponer una API pública unificada bajo /api y facilitar la documentación (OpenAPI)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732261" y="9083384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2"/>
                </a:lnTo>
                <a:lnTo>
                  <a:pt x="0" y="349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121134"/>
            <a:ext cx="397626" cy="754987"/>
          </a:xfrm>
          <a:custGeom>
            <a:avLst/>
            <a:gdLst/>
            <a:ahLst/>
            <a:cxnLst/>
            <a:rect r="r" b="b" t="t" l="l"/>
            <a:pathLst>
              <a:path h="754987" w="397626">
                <a:moveTo>
                  <a:pt x="0" y="0"/>
                </a:moveTo>
                <a:lnTo>
                  <a:pt x="397626" y="0"/>
                </a:lnTo>
                <a:lnTo>
                  <a:pt x="397626" y="754987"/>
                </a:lnTo>
                <a:lnTo>
                  <a:pt x="0" y="754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185960"/>
            <a:ext cx="546585" cy="741971"/>
          </a:xfrm>
          <a:custGeom>
            <a:avLst/>
            <a:gdLst/>
            <a:ahLst/>
            <a:cxnLst/>
            <a:rect r="r" b="b" t="t" l="l"/>
            <a:pathLst>
              <a:path h="741971" w="546585">
                <a:moveTo>
                  <a:pt x="0" y="0"/>
                </a:moveTo>
                <a:lnTo>
                  <a:pt x="546585" y="0"/>
                </a:lnTo>
                <a:lnTo>
                  <a:pt x="546585" y="741971"/>
                </a:lnTo>
                <a:lnTo>
                  <a:pt x="0" y="7419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25214" y="4543248"/>
            <a:ext cx="569492" cy="781912"/>
          </a:xfrm>
          <a:custGeom>
            <a:avLst/>
            <a:gdLst/>
            <a:ahLst/>
            <a:cxnLst/>
            <a:rect r="r" b="b" t="t" l="l"/>
            <a:pathLst>
              <a:path h="781912" w="569492">
                <a:moveTo>
                  <a:pt x="0" y="0"/>
                </a:moveTo>
                <a:lnTo>
                  <a:pt x="569492" y="0"/>
                </a:lnTo>
                <a:lnTo>
                  <a:pt x="569492" y="781912"/>
                </a:lnTo>
                <a:lnTo>
                  <a:pt x="0" y="7819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97998" y="598479"/>
            <a:ext cx="9692004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FUNCIONALIDADES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3508" y="3992541"/>
            <a:ext cx="5523458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Explorar catálogo por deporte/categoría/marca, ver detalles y filtrar productos.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3508" y="3204610"/>
            <a:ext cx="5523458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Catálogo de productos deportivos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3508" y="6919041"/>
            <a:ext cx="5523458" cy="77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Permite el registro, inicio de sesión y edición del perfil de cada usuario, aparte de guardar productos en la lista de favoritos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3508" y="6259449"/>
            <a:ext cx="3234928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Gestión de usuarios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3413" y="5289169"/>
            <a:ext cx="5523458" cy="102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079"/>
              </a:lnSpc>
              <a:buFont typeface="Arial"/>
              <a:buChar char="•"/>
            </a:pPr>
            <a:r>
              <a:rPr lang="en-US" sz="1599" spc="-47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Los usuarios pueden explorar un catalogo organizado por tipo de deporte, marca o incluso categoría consultando detalles de cada producto y buscar artículos mediante filtros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87798" y="4637025"/>
            <a:ext cx="2770436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Carrito y pedidos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3309" y="2461470"/>
            <a:ext cx="12441382" cy="48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7"/>
              </a:lnSpc>
              <a:spcBef>
                <a:spcPct val="0"/>
              </a:spcBef>
            </a:pPr>
            <a:r>
              <a:rPr lang="en-US" sz="13805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EXPLICACIÓN MICROSERVICIOS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2202684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3"/>
                </a:lnTo>
                <a:lnTo>
                  <a:pt x="0" y="34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028700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5063371" y="0"/>
                </a:moveTo>
                <a:lnTo>
                  <a:pt x="0" y="0"/>
                </a:lnTo>
                <a:lnTo>
                  <a:pt x="0" y="349833"/>
                </a:lnTo>
                <a:lnTo>
                  <a:pt x="5063371" y="349833"/>
                </a:lnTo>
                <a:lnTo>
                  <a:pt x="50633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2063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0" y="0"/>
                </a:moveTo>
                <a:lnTo>
                  <a:pt x="530920" y="0"/>
                </a:lnTo>
                <a:lnTo>
                  <a:pt x="530920" y="250980"/>
                </a:lnTo>
                <a:lnTo>
                  <a:pt x="0" y="250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805017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530920" y="0"/>
                </a:moveTo>
                <a:lnTo>
                  <a:pt x="0" y="0"/>
                </a:lnTo>
                <a:lnTo>
                  <a:pt x="0" y="250980"/>
                </a:lnTo>
                <a:lnTo>
                  <a:pt x="530920" y="250980"/>
                </a:lnTo>
                <a:lnTo>
                  <a:pt x="5309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732261" y="9083384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2"/>
                </a:lnTo>
                <a:lnTo>
                  <a:pt x="0" y="349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16213" y="3214284"/>
            <a:ext cx="397626" cy="754987"/>
          </a:xfrm>
          <a:custGeom>
            <a:avLst/>
            <a:gdLst/>
            <a:ahLst/>
            <a:cxnLst/>
            <a:rect r="r" b="b" t="t" l="l"/>
            <a:pathLst>
              <a:path h="754987" w="397626">
                <a:moveTo>
                  <a:pt x="0" y="0"/>
                </a:moveTo>
                <a:lnTo>
                  <a:pt x="397626" y="0"/>
                </a:lnTo>
                <a:lnTo>
                  <a:pt x="397626" y="754986"/>
                </a:lnTo>
                <a:lnTo>
                  <a:pt x="0" y="75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0547" y="4626314"/>
            <a:ext cx="13680502" cy="519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Gestionar la información de los usuarios, la autenticación y los datos relacionados con sus preferencias y seguridad.</a:t>
            </a:r>
          </a:p>
          <a:p>
            <a:pPr algn="l">
              <a:lnSpc>
                <a:spcPts val="2989"/>
              </a:lnSpc>
            </a:pPr>
          </a:p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b="true" sz="2299" spc="-68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Funciones principales: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Registro de usuarios y creación de cuentas nuevas.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Inicio de sesión con validación de credenciales y generación de JWT para autenticación.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Edición de perfil (nombre, email, dirección, etc.).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Validación de roles.</a:t>
            </a:r>
          </a:p>
          <a:p>
            <a:pPr algn="l">
              <a:lnSpc>
                <a:spcPts val="2989"/>
              </a:lnSpc>
            </a:pPr>
          </a:p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b="true" sz="2299" spc="-68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Tecnología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:  Node.js + Express + MongoDB</a:t>
            </a:r>
          </a:p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b="true" sz="2299" spc="-68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:  JWT (secreto compartido con el gateway)</a:t>
            </a:r>
          </a:p>
          <a:p>
            <a:pPr algn="l">
              <a:lnSpc>
                <a:spcPts val="2989"/>
              </a:lnSpc>
            </a:pPr>
          </a:p>
          <a:p>
            <a:pPr algn="l">
              <a:lnSpc>
                <a:spcPts val="2989"/>
              </a:lnSpc>
            </a:pPr>
          </a:p>
          <a:p>
            <a:pPr algn="l">
              <a:lnSpc>
                <a:spcPts val="298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033483" y="3223781"/>
            <a:ext cx="8369379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Microservicio de Gestión de usuarios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62314" y="894314"/>
            <a:ext cx="2917470" cy="3518893"/>
            <a:chOff x="0" y="0"/>
            <a:chExt cx="865497" cy="10439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5497" cy="1043915"/>
            </a:xfrm>
            <a:custGeom>
              <a:avLst/>
              <a:gdLst/>
              <a:ahLst/>
              <a:cxnLst/>
              <a:rect r="r" b="b" t="t" l="l"/>
              <a:pathLst>
                <a:path h="1043915" w="865497">
                  <a:moveTo>
                    <a:pt x="432748" y="0"/>
                  </a:moveTo>
                  <a:lnTo>
                    <a:pt x="865497" y="203200"/>
                  </a:lnTo>
                  <a:lnTo>
                    <a:pt x="865497" y="840715"/>
                  </a:lnTo>
                  <a:lnTo>
                    <a:pt x="432748" y="1043915"/>
                  </a:lnTo>
                  <a:lnTo>
                    <a:pt x="0" y="840715"/>
                  </a:lnTo>
                  <a:lnTo>
                    <a:pt x="0" y="203200"/>
                  </a:lnTo>
                  <a:lnTo>
                    <a:pt x="432748" y="0"/>
                  </a:lnTo>
                  <a:close/>
                </a:path>
              </a:pathLst>
            </a:custGeom>
            <a:blipFill>
              <a:blip r:embed="rId7"/>
              <a:stretch>
                <a:fillRect l="-31124" t="0" r="-50592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732261" y="9083384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2"/>
                </a:lnTo>
                <a:lnTo>
                  <a:pt x="0" y="349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67254" y="3227299"/>
            <a:ext cx="546585" cy="741971"/>
          </a:xfrm>
          <a:custGeom>
            <a:avLst/>
            <a:gdLst/>
            <a:ahLst/>
            <a:cxnLst/>
            <a:rect r="r" b="b" t="t" l="l"/>
            <a:pathLst>
              <a:path h="741971" w="546585">
                <a:moveTo>
                  <a:pt x="0" y="0"/>
                </a:moveTo>
                <a:lnTo>
                  <a:pt x="546585" y="0"/>
                </a:lnTo>
                <a:lnTo>
                  <a:pt x="546585" y="741971"/>
                </a:lnTo>
                <a:lnTo>
                  <a:pt x="0" y="741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0547" y="4626314"/>
            <a:ext cx="13680502" cy="519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Gestionar todo lo relacionado con el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 ca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tá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ogo de productos deport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ivos.</a:t>
            </a:r>
          </a:p>
          <a:p>
            <a:pPr algn="l">
              <a:lnSpc>
                <a:spcPts val="2989"/>
              </a:lnSpc>
            </a:pPr>
          </a:p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Funciones principales: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Filtrar productos por precio, disponibilidad o popularidad.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Consultar detalles de un producto específico (descripción, talla, color, precio, stock).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Crear, modificar o eliminar productos (solo administradores).</a:t>
            </a:r>
          </a:p>
          <a:p>
            <a:pPr algn="l">
              <a:lnSpc>
                <a:spcPts val="2989"/>
              </a:lnSpc>
            </a:pPr>
          </a:p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b="true" sz="2299" spc="-68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Tecnología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:  Python + FastAPI + PostgreSQL</a:t>
            </a:r>
          </a:p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b="true" sz="2299" spc="-68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Documentación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:  Swagger en /docs</a:t>
            </a:r>
          </a:p>
          <a:p>
            <a:pPr algn="l">
              <a:lnSpc>
                <a:spcPts val="2989"/>
              </a:lnSpc>
            </a:pPr>
          </a:p>
          <a:p>
            <a:pPr algn="l">
              <a:lnSpc>
                <a:spcPts val="2989"/>
              </a:lnSpc>
            </a:pPr>
          </a:p>
          <a:p>
            <a:pPr algn="l">
              <a:lnSpc>
                <a:spcPts val="2989"/>
              </a:lnSpc>
            </a:pPr>
          </a:p>
          <a:p>
            <a:pPr algn="l">
              <a:lnSpc>
                <a:spcPts val="2989"/>
              </a:lnSpc>
            </a:pPr>
          </a:p>
          <a:p>
            <a:pPr algn="l">
              <a:lnSpc>
                <a:spcPts val="298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944296" y="3223781"/>
            <a:ext cx="6199704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Microservicio de Productos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34756" y="746061"/>
            <a:ext cx="2924544" cy="3523432"/>
            <a:chOff x="0" y="0"/>
            <a:chExt cx="653436" cy="7872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3436" cy="787247"/>
            </a:xfrm>
            <a:custGeom>
              <a:avLst/>
              <a:gdLst/>
              <a:ahLst/>
              <a:cxnLst/>
              <a:rect r="r" b="b" t="t" l="l"/>
              <a:pathLst>
                <a:path h="787247" w="653436">
                  <a:moveTo>
                    <a:pt x="326718" y="0"/>
                  </a:moveTo>
                  <a:lnTo>
                    <a:pt x="653436" y="203200"/>
                  </a:lnTo>
                  <a:lnTo>
                    <a:pt x="653436" y="584047"/>
                  </a:lnTo>
                  <a:lnTo>
                    <a:pt x="326718" y="787247"/>
                  </a:lnTo>
                  <a:lnTo>
                    <a:pt x="0" y="584047"/>
                  </a:lnTo>
                  <a:lnTo>
                    <a:pt x="0" y="203200"/>
                  </a:lnTo>
                  <a:lnTo>
                    <a:pt x="326718" y="0"/>
                  </a:lnTo>
                  <a:close/>
                </a:path>
              </a:pathLst>
            </a:custGeom>
            <a:blipFill>
              <a:blip r:embed="rId7"/>
              <a:stretch>
                <a:fillRect l="0" t="-12290" r="0" b="-1229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732261" y="9083384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2"/>
                </a:lnTo>
                <a:lnTo>
                  <a:pt x="0" y="349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5800" y="3187358"/>
            <a:ext cx="569492" cy="781912"/>
          </a:xfrm>
          <a:custGeom>
            <a:avLst/>
            <a:gdLst/>
            <a:ahLst/>
            <a:cxnLst/>
            <a:rect r="r" b="b" t="t" l="l"/>
            <a:pathLst>
              <a:path h="781912" w="569492">
                <a:moveTo>
                  <a:pt x="0" y="0"/>
                </a:moveTo>
                <a:lnTo>
                  <a:pt x="569493" y="0"/>
                </a:lnTo>
                <a:lnTo>
                  <a:pt x="569493" y="781912"/>
                </a:lnTo>
                <a:lnTo>
                  <a:pt x="0" y="781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0547" y="4611005"/>
            <a:ext cx="13680502" cy="370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Gestionar el carrito, favoritos y el historial de pedidos de cada usuario.</a:t>
            </a:r>
          </a:p>
          <a:p>
            <a:pPr algn="l">
              <a:lnSpc>
                <a:spcPts val="2989"/>
              </a:lnSpc>
            </a:pPr>
          </a:p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Funciones principales: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Añadir/eliminar productos del carrito y modificar cantidades.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Gest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ionar lista de favoritos.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Crear pedidos y consultar historial.</a:t>
            </a:r>
          </a:p>
          <a:p>
            <a:pPr algn="l" marL="993131" indent="-331044" lvl="2">
              <a:lnSpc>
                <a:spcPts val="2989"/>
              </a:lnSpc>
              <a:buFont typeface="Arial"/>
              <a:buChar char="⚬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Mantener consistencia de cantidades (validaciones contra el servic</a:t>
            </a: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io de productos si aplica).</a:t>
            </a:r>
          </a:p>
          <a:p>
            <a:pPr algn="l">
              <a:lnSpc>
                <a:spcPts val="2989"/>
              </a:lnSpc>
            </a:pPr>
          </a:p>
          <a:p>
            <a:pPr algn="l" marL="496566" indent="-248283" lvl="1">
              <a:lnSpc>
                <a:spcPts val="2989"/>
              </a:lnSpc>
              <a:buFont typeface="Arial"/>
              <a:buChar char="•"/>
            </a:pPr>
            <a:r>
              <a:rPr lang="en-US" sz="2299" spc="-68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Tecnología:  Node.js + Express + MongoDB.</a:t>
            </a:r>
          </a:p>
          <a:p>
            <a:pPr algn="l">
              <a:lnSpc>
                <a:spcPts val="298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821197" y="3223781"/>
            <a:ext cx="7715012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EDF2F4"/>
                </a:solidFill>
                <a:latin typeface="Anton"/>
                <a:ea typeface="Anton"/>
                <a:cs typeface="Anton"/>
                <a:sym typeface="Anton"/>
              </a:rPr>
              <a:t>Microservicio de Pedidos y Carrito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07939" y="699445"/>
            <a:ext cx="3007170" cy="3616664"/>
            <a:chOff x="0" y="0"/>
            <a:chExt cx="698500" cy="840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8500" cy="840072"/>
            </a:xfrm>
            <a:custGeom>
              <a:avLst/>
              <a:gdLst/>
              <a:ahLst/>
              <a:cxnLst/>
              <a:rect r="r" b="b" t="t" l="l"/>
              <a:pathLst>
                <a:path h="840072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36872"/>
                  </a:lnTo>
                  <a:lnTo>
                    <a:pt x="349250" y="840072"/>
                  </a:lnTo>
                  <a:lnTo>
                    <a:pt x="0" y="636872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40201" t="0" r="-40201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3309" y="3392567"/>
            <a:ext cx="12441382" cy="259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27"/>
              </a:lnSpc>
              <a:spcBef>
                <a:spcPct val="0"/>
              </a:spcBef>
            </a:pPr>
            <a:r>
              <a:rPr lang="en-US" sz="15305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ARQUITECTURA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2202684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3"/>
                </a:lnTo>
                <a:lnTo>
                  <a:pt x="0" y="34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028700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5063371" y="0"/>
                </a:moveTo>
                <a:lnTo>
                  <a:pt x="0" y="0"/>
                </a:lnTo>
                <a:lnTo>
                  <a:pt x="0" y="349833"/>
                </a:lnTo>
                <a:lnTo>
                  <a:pt x="5063371" y="349833"/>
                </a:lnTo>
                <a:lnTo>
                  <a:pt x="50633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2063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0" y="0"/>
                </a:moveTo>
                <a:lnTo>
                  <a:pt x="530920" y="0"/>
                </a:lnTo>
                <a:lnTo>
                  <a:pt x="530920" y="250980"/>
                </a:lnTo>
                <a:lnTo>
                  <a:pt x="0" y="250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805017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530920" y="0"/>
                </a:moveTo>
                <a:lnTo>
                  <a:pt x="0" y="0"/>
                </a:lnTo>
                <a:lnTo>
                  <a:pt x="0" y="250980"/>
                </a:lnTo>
                <a:lnTo>
                  <a:pt x="530920" y="250980"/>
                </a:lnTo>
                <a:lnTo>
                  <a:pt x="5309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732261" y="9083384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2"/>
                </a:lnTo>
                <a:lnTo>
                  <a:pt x="0" y="349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16841" y="842676"/>
            <a:ext cx="3086100" cy="912121"/>
            <a:chOff x="0" y="0"/>
            <a:chExt cx="812800" cy="2402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40229"/>
            </a:xfrm>
            <a:custGeom>
              <a:avLst/>
              <a:gdLst/>
              <a:ahLst/>
              <a:cxnLst/>
              <a:rect r="r" b="b" t="t" l="l"/>
              <a:pathLst>
                <a:path h="240229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97582"/>
                  </a:lnTo>
                  <a:cubicBezTo>
                    <a:pt x="812800" y="221136"/>
                    <a:pt x="793706" y="240229"/>
                    <a:pt x="770153" y="240229"/>
                  </a:cubicBezTo>
                  <a:lnTo>
                    <a:pt x="42647" y="240229"/>
                  </a:lnTo>
                  <a:cubicBezTo>
                    <a:pt x="31336" y="240229"/>
                    <a:pt x="20489" y="235736"/>
                    <a:pt x="12491" y="227738"/>
                  </a:cubicBezTo>
                  <a:cubicBezTo>
                    <a:pt x="4493" y="219740"/>
                    <a:pt x="0" y="208893"/>
                    <a:pt x="0" y="19758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12800" cy="25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32334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Interfaz web 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32334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( HTML5)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37235" y="2555780"/>
            <a:ext cx="3086100" cy="912121"/>
            <a:chOff x="0" y="0"/>
            <a:chExt cx="812800" cy="240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40229"/>
            </a:xfrm>
            <a:custGeom>
              <a:avLst/>
              <a:gdLst/>
              <a:ahLst/>
              <a:cxnLst/>
              <a:rect r="r" b="b" t="t" l="l"/>
              <a:pathLst>
                <a:path h="240229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97582"/>
                  </a:lnTo>
                  <a:cubicBezTo>
                    <a:pt x="812800" y="221136"/>
                    <a:pt x="793706" y="240229"/>
                    <a:pt x="770153" y="240229"/>
                  </a:cubicBezTo>
                  <a:lnTo>
                    <a:pt x="42647" y="240229"/>
                  </a:lnTo>
                  <a:cubicBezTo>
                    <a:pt x="31336" y="240229"/>
                    <a:pt x="20489" y="235736"/>
                    <a:pt x="12491" y="227738"/>
                  </a:cubicBezTo>
                  <a:cubicBezTo>
                    <a:pt x="4493" y="219740"/>
                    <a:pt x="0" y="208893"/>
                    <a:pt x="0" y="19758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12800" cy="25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API Gateway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( node.js 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77836" y="4704146"/>
            <a:ext cx="3086100" cy="912121"/>
            <a:chOff x="0" y="0"/>
            <a:chExt cx="812800" cy="2402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240229"/>
            </a:xfrm>
            <a:custGeom>
              <a:avLst/>
              <a:gdLst/>
              <a:ahLst/>
              <a:cxnLst/>
              <a:rect r="r" b="b" t="t" l="l"/>
              <a:pathLst>
                <a:path h="240229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97582"/>
                  </a:lnTo>
                  <a:cubicBezTo>
                    <a:pt x="812800" y="221136"/>
                    <a:pt x="793706" y="240229"/>
                    <a:pt x="770153" y="240229"/>
                  </a:cubicBezTo>
                  <a:lnTo>
                    <a:pt x="42647" y="240229"/>
                  </a:lnTo>
                  <a:cubicBezTo>
                    <a:pt x="31336" y="240229"/>
                    <a:pt x="20489" y="235736"/>
                    <a:pt x="12491" y="227738"/>
                  </a:cubicBezTo>
                  <a:cubicBezTo>
                    <a:pt x="4493" y="219740"/>
                    <a:pt x="0" y="208893"/>
                    <a:pt x="0" y="19758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12800" cy="25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8" indent="-205104" lvl="1">
                <a:lnSpc>
                  <a:spcPts val="2469"/>
                </a:lnSpc>
                <a:buAutoNum type="arabicPeriod" startAt="1"/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Gestion de Usuarios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( node.js + Express)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H="true" flipV="true">
            <a:off x="8659891" y="1754797"/>
            <a:ext cx="20395" cy="800983"/>
          </a:xfrm>
          <a:prstGeom prst="line">
            <a:avLst/>
          </a:prstGeom>
          <a:ln cap="flat" w="38100">
            <a:solidFill>
              <a:srgbClr val="FFE2E2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7229599" y="4687440"/>
            <a:ext cx="3086100" cy="912121"/>
            <a:chOff x="0" y="0"/>
            <a:chExt cx="812800" cy="2402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240229"/>
            </a:xfrm>
            <a:custGeom>
              <a:avLst/>
              <a:gdLst/>
              <a:ahLst/>
              <a:cxnLst/>
              <a:rect r="r" b="b" t="t" l="l"/>
              <a:pathLst>
                <a:path h="240229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97582"/>
                  </a:lnTo>
                  <a:cubicBezTo>
                    <a:pt x="812800" y="221136"/>
                    <a:pt x="793706" y="240229"/>
                    <a:pt x="770153" y="240229"/>
                  </a:cubicBezTo>
                  <a:lnTo>
                    <a:pt x="42647" y="240229"/>
                  </a:lnTo>
                  <a:cubicBezTo>
                    <a:pt x="31336" y="240229"/>
                    <a:pt x="20489" y="235736"/>
                    <a:pt x="12491" y="227738"/>
                  </a:cubicBezTo>
                  <a:cubicBezTo>
                    <a:pt x="4493" y="219740"/>
                    <a:pt x="0" y="208893"/>
                    <a:pt x="0" y="19758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12800" cy="25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2. Productos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(Python + FastAPI)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01674" y="4687440"/>
            <a:ext cx="3086100" cy="912121"/>
            <a:chOff x="0" y="0"/>
            <a:chExt cx="812800" cy="2402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240229"/>
            </a:xfrm>
            <a:custGeom>
              <a:avLst/>
              <a:gdLst/>
              <a:ahLst/>
              <a:cxnLst/>
              <a:rect r="r" b="b" t="t" l="l"/>
              <a:pathLst>
                <a:path h="240229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97582"/>
                  </a:lnTo>
                  <a:cubicBezTo>
                    <a:pt x="812800" y="221136"/>
                    <a:pt x="793706" y="240229"/>
                    <a:pt x="770153" y="240229"/>
                  </a:cubicBezTo>
                  <a:lnTo>
                    <a:pt x="42647" y="240229"/>
                  </a:lnTo>
                  <a:cubicBezTo>
                    <a:pt x="31336" y="240229"/>
                    <a:pt x="20489" y="235736"/>
                    <a:pt x="12491" y="227738"/>
                  </a:cubicBezTo>
                  <a:cubicBezTo>
                    <a:pt x="4493" y="219740"/>
                    <a:pt x="0" y="208893"/>
                    <a:pt x="0" y="197582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12800" cy="25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3. Pedidos y Carrito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( node.js + Express)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957265" y="6837810"/>
            <a:ext cx="1279773" cy="1283195"/>
          </a:xfrm>
          <a:custGeom>
            <a:avLst/>
            <a:gdLst/>
            <a:ahLst/>
            <a:cxnLst/>
            <a:rect r="r" b="b" t="t" l="l"/>
            <a:pathLst>
              <a:path h="1283195" w="1279773">
                <a:moveTo>
                  <a:pt x="0" y="0"/>
                </a:moveTo>
                <a:lnTo>
                  <a:pt x="1279773" y="0"/>
                </a:lnTo>
                <a:lnTo>
                  <a:pt x="1279773" y="1283195"/>
                </a:lnTo>
                <a:lnTo>
                  <a:pt x="0" y="1283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308261" y="6837810"/>
            <a:ext cx="1279773" cy="1283195"/>
          </a:xfrm>
          <a:custGeom>
            <a:avLst/>
            <a:gdLst/>
            <a:ahLst/>
            <a:cxnLst/>
            <a:rect r="r" b="b" t="t" l="l"/>
            <a:pathLst>
              <a:path h="1283195" w="1279773">
                <a:moveTo>
                  <a:pt x="0" y="0"/>
                </a:moveTo>
                <a:lnTo>
                  <a:pt x="1279773" y="0"/>
                </a:lnTo>
                <a:lnTo>
                  <a:pt x="1279773" y="1283195"/>
                </a:lnTo>
                <a:lnTo>
                  <a:pt x="0" y="1283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32763" y="6837810"/>
            <a:ext cx="1279773" cy="1283195"/>
          </a:xfrm>
          <a:custGeom>
            <a:avLst/>
            <a:gdLst/>
            <a:ahLst/>
            <a:cxnLst/>
            <a:rect r="r" b="b" t="t" l="l"/>
            <a:pathLst>
              <a:path h="1283195" w="1279773">
                <a:moveTo>
                  <a:pt x="0" y="0"/>
                </a:moveTo>
                <a:lnTo>
                  <a:pt x="1279773" y="0"/>
                </a:lnTo>
                <a:lnTo>
                  <a:pt x="1279773" y="1283195"/>
                </a:lnTo>
                <a:lnTo>
                  <a:pt x="0" y="1283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 flipV="true">
            <a:off x="3597152" y="5616266"/>
            <a:ext cx="23734" cy="1221544"/>
          </a:xfrm>
          <a:prstGeom prst="line">
            <a:avLst/>
          </a:prstGeom>
          <a:ln cap="flat" w="38100">
            <a:solidFill>
              <a:srgbClr val="FFE2E2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8772649" y="5599560"/>
            <a:ext cx="0" cy="1238250"/>
          </a:xfrm>
          <a:prstGeom prst="line">
            <a:avLst/>
          </a:prstGeom>
          <a:ln cap="flat" w="38100">
            <a:solidFill>
              <a:srgbClr val="FFE2E2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13944724" y="5599560"/>
            <a:ext cx="3423" cy="1238250"/>
          </a:xfrm>
          <a:prstGeom prst="line">
            <a:avLst/>
          </a:prstGeom>
          <a:ln cap="flat" w="38100">
            <a:solidFill>
              <a:srgbClr val="FFE2E2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3620886" y="3467901"/>
            <a:ext cx="5059400" cy="1236245"/>
          </a:xfrm>
          <a:prstGeom prst="line">
            <a:avLst/>
          </a:prstGeom>
          <a:ln cap="flat" w="38100">
            <a:solidFill>
              <a:srgbClr val="FFE2E2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8680285" y="3467901"/>
            <a:ext cx="92364" cy="1219539"/>
          </a:xfrm>
          <a:prstGeom prst="line">
            <a:avLst/>
          </a:prstGeom>
          <a:ln cap="flat" w="38100">
            <a:solidFill>
              <a:srgbClr val="FFE2E2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8680285" y="3467901"/>
            <a:ext cx="5264439" cy="1219539"/>
          </a:xfrm>
          <a:prstGeom prst="line">
            <a:avLst/>
          </a:prstGeom>
          <a:ln cap="flat" w="38100">
            <a:solidFill>
              <a:srgbClr val="FFE2E2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111257" y="8584493"/>
            <a:ext cx="132278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899" spc="-56">
                <a:solidFill>
                  <a:srgbClr val="FFE2E2"/>
                </a:solidFill>
                <a:latin typeface="Open Sauce"/>
                <a:ea typeface="Open Sauce"/>
                <a:cs typeface="Open Sauce"/>
                <a:sym typeface="Open Sauce"/>
              </a:rPr>
              <a:t>PostrgeSQL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57265" y="8444158"/>
            <a:ext cx="1109960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899" spc="-56">
                <a:solidFill>
                  <a:srgbClr val="FFE2E2"/>
                </a:solidFill>
                <a:latin typeface="Open Sauce"/>
                <a:ea typeface="Open Sauce"/>
                <a:cs typeface="Open Sauce"/>
                <a:sym typeface="Open Sauce"/>
              </a:rPr>
              <a:t>MongoDB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601407" y="8584493"/>
            <a:ext cx="1109960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899" spc="-56">
                <a:solidFill>
                  <a:srgbClr val="FFE2E2"/>
                </a:solidFill>
                <a:latin typeface="Open Sauce"/>
                <a:ea typeface="Open Sauce"/>
                <a:cs typeface="Open Sauce"/>
                <a:sym typeface="Open Sauce"/>
              </a:rPr>
              <a:t>MongoDB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732261" y="9083384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2"/>
                </a:lnTo>
                <a:lnTo>
                  <a:pt x="0" y="349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97998" y="598479"/>
            <a:ext cx="9692004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  <a:spcBef>
                <a:spcPct val="0"/>
              </a:spcBef>
            </a:pPr>
            <a:r>
              <a:rPr lang="en-US" sz="10400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SPA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63138" y="4153852"/>
            <a:ext cx="13894529" cy="312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Frontend estático HTML/C</a:t>
            </a: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S/JS servido por Nginx (http://localhost:8080)</a:t>
            </a:r>
          </a:p>
          <a:p>
            <a:pPr algn="l">
              <a:lnSpc>
                <a:spcPts val="3119"/>
              </a:lnSpc>
            </a:pPr>
          </a:p>
          <a:p>
            <a:pPr algn="l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Páginas típicas: index.html, cart.html</a:t>
            </a:r>
          </a:p>
          <a:p>
            <a:pPr algn="l">
              <a:lnSpc>
                <a:spcPts val="3119"/>
              </a:lnSpc>
            </a:pPr>
          </a:p>
          <a:p>
            <a:pPr algn="l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El frontend consume siempre el Gateway: http://localhost:5000/api</a:t>
            </a:r>
          </a:p>
          <a:p>
            <a:pPr algn="l">
              <a:lnSpc>
                <a:spcPts val="3119"/>
              </a:lnSpc>
            </a:pPr>
          </a:p>
          <a:p>
            <a:pPr algn="l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Uso extensivo de JavaScript en cliente (fetch a la API)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3309" y="2461470"/>
            <a:ext cx="12441382" cy="48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7"/>
              </a:lnSpc>
              <a:spcBef>
                <a:spcPct val="0"/>
              </a:spcBef>
            </a:pPr>
            <a:r>
              <a:rPr lang="en-US" sz="13805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LECCIONES APRENDIDAS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2202684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3"/>
                </a:lnTo>
                <a:lnTo>
                  <a:pt x="0" y="34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028700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5063371" y="0"/>
                </a:moveTo>
                <a:lnTo>
                  <a:pt x="0" y="0"/>
                </a:lnTo>
                <a:lnTo>
                  <a:pt x="0" y="349833"/>
                </a:lnTo>
                <a:lnTo>
                  <a:pt x="5063371" y="349833"/>
                </a:lnTo>
                <a:lnTo>
                  <a:pt x="50633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2063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0" y="0"/>
                </a:moveTo>
                <a:lnTo>
                  <a:pt x="530920" y="0"/>
                </a:lnTo>
                <a:lnTo>
                  <a:pt x="530920" y="250980"/>
                </a:lnTo>
                <a:lnTo>
                  <a:pt x="0" y="250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805017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530920" y="0"/>
                </a:moveTo>
                <a:lnTo>
                  <a:pt x="0" y="0"/>
                </a:lnTo>
                <a:lnTo>
                  <a:pt x="0" y="250980"/>
                </a:lnTo>
                <a:lnTo>
                  <a:pt x="530920" y="250980"/>
                </a:lnTo>
                <a:lnTo>
                  <a:pt x="5309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09530" y="2479202"/>
            <a:ext cx="12842325" cy="688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Diseñar u</a:t>
            </a: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na arquitectura </a:t>
            </a: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real de microservicios, separando </a:t>
            </a: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responsabilidades (usuarios / productos / pedidos).</a:t>
            </a:r>
          </a:p>
          <a:p>
            <a:pPr algn="just">
              <a:lnSpc>
                <a:spcPts val="3119"/>
              </a:lnSpc>
            </a:pP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Coordinación entre servicios mediante API Gateway (rutas unificadas, proxy inverso).</a:t>
            </a:r>
          </a:p>
          <a:p>
            <a:pPr algn="just">
              <a:lnSpc>
                <a:spcPts val="3119"/>
              </a:lnSpc>
            </a:pP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Gestión consistente de configuración con .env y secreto compartido JWT_SECRET.</a:t>
            </a: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3509"/>
              </a:lnSpc>
            </a:pPr>
            <a:r>
              <a:rPr lang="en-US" b="true" sz="2699" spc="-80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Aspectos avanzados a destacar</a:t>
            </a:r>
          </a:p>
          <a:p>
            <a:pPr algn="just">
              <a:lnSpc>
                <a:spcPts val="3119"/>
              </a:lnSpc>
            </a:pP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Docker Compose como flujo principal: despliegue reproducible con un solo comando.</a:t>
            </a:r>
          </a:p>
          <a:p>
            <a:pPr algn="just">
              <a:lnSpc>
                <a:spcPts val="3119"/>
              </a:lnSpc>
            </a:pP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OpenAPI/Swagger en el servicio de productos (/docs) para documentación y pruebas.</a:t>
            </a:r>
          </a:p>
          <a:p>
            <a:pPr algn="just">
              <a:lnSpc>
                <a:spcPts val="3119"/>
              </a:lnSpc>
            </a:pP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Separación de datos por dominio:</a:t>
            </a:r>
          </a:p>
          <a:p>
            <a:pPr algn="just" marL="1036310" indent="-345437" lvl="2">
              <a:lnSpc>
                <a:spcPts val="3119"/>
              </a:lnSpc>
              <a:buFont typeface="Arial"/>
              <a:buChar char="⚬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PostgreSQL para catálogo (relacional).</a:t>
            </a:r>
          </a:p>
          <a:p>
            <a:pPr algn="just" marL="1036310" indent="-345437" lvl="2">
              <a:lnSpc>
                <a:spcPts val="3119"/>
              </a:lnSpc>
              <a:buFont typeface="Arial"/>
              <a:buChar char="⚬"/>
            </a:pPr>
            <a:r>
              <a:rPr lang="en-US" sz="2399" spc="-71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MongoDB para usuarios y pedidos (documental).</a:t>
            </a:r>
          </a:p>
          <a:p>
            <a:pPr algn="just">
              <a:lnSpc>
                <a:spcPts val="156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18924" y="302586"/>
            <a:ext cx="14650153" cy="130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  <a:spcBef>
                <a:spcPct val="0"/>
              </a:spcBef>
            </a:pPr>
            <a:r>
              <a:rPr lang="en-US" sz="7700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¿POR QUÉ MERECE BUENA NOTA?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18924" y="1583364"/>
            <a:ext cx="15032474" cy="880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</a:p>
          <a:p>
            <a:pPr algn="just" marL="410209" indent="-205105" lvl="1">
              <a:lnSpc>
                <a:spcPts val="2469"/>
              </a:lnSpc>
              <a:buFont typeface="Arial"/>
              <a:buChar char="•"/>
            </a:pPr>
            <a:r>
              <a:rPr lang="en-US" b="true" sz="1899" spc="-5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 completa y coherente (de punta a punta)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 spc="-53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No es solo una API: incluye frontend funcional, API Gateway, tres microservicios especializados (usuarios, productos y pedidos) y tres bases de datos separadas por dominio (MongoDB para usuarios, MongoDB para pedidos y PostgreSQL para productos). Esto demuestra que el sistema está pensado como una aplicación real y no como módulos sueltos.</a:t>
            </a:r>
          </a:p>
          <a:p>
            <a:pPr algn="just">
              <a:lnSpc>
                <a:spcPts val="2340"/>
              </a:lnSpc>
            </a:pPr>
          </a:p>
          <a:p>
            <a:pPr algn="just" marL="431799" indent="-215899" lvl="1">
              <a:lnSpc>
                <a:spcPts val="2599"/>
              </a:lnSpc>
              <a:buFont typeface="Arial"/>
              <a:buChar char="•"/>
            </a:pPr>
            <a:r>
              <a:rPr lang="en-US" b="true" sz="1999" spc="-59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 clara, escalable y mantenible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 spc="-53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Cada microservicio tiene una responsabilidad concreta, lo que facilita mantener y ampliar el proyecto sin romper todo el sistema. Además, al estar desacoplados, se puede escalar solo el servicio que lo necesite (por ejemplo, productos si hay muchas consultas, o pedidos en picos de compra) sin afectar al resto.</a:t>
            </a:r>
          </a:p>
          <a:p>
            <a:pPr algn="just">
              <a:lnSpc>
                <a:spcPts val="2340"/>
              </a:lnSpc>
            </a:pPr>
          </a:p>
          <a:p>
            <a:pPr algn="just" marL="431799" indent="-215899" lvl="1">
              <a:lnSpc>
                <a:spcPts val="2599"/>
              </a:lnSpc>
              <a:buFont typeface="Arial"/>
              <a:buChar char="•"/>
            </a:pPr>
            <a:r>
              <a:rPr lang="en-US" b="true" sz="1999" spc="-59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Despliegue reproducible y fácil de evaluar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 spc="-53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Con Docker Compose el proyecto se levanta con un único comando, asegurando que cualquiera (profesor/evaluador) pueda ejecutarlo sin problemas de dependencias. Esto mejora mucho la calidad de entrega: mismo entorno, mismos servicios, mismas versiones.</a:t>
            </a:r>
          </a:p>
          <a:p>
            <a:pPr algn="just">
              <a:lnSpc>
                <a:spcPts val="2340"/>
              </a:lnSpc>
            </a:pPr>
          </a:p>
          <a:p>
            <a:pPr algn="just" marL="431799" indent="-215899" lvl="1">
              <a:lnSpc>
                <a:spcPts val="2599"/>
              </a:lnSpc>
              <a:buFont typeface="Arial"/>
              <a:buChar char="•"/>
            </a:pPr>
            <a:r>
              <a:rPr lang="en-US" b="true" sz="1999" spc="-59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APIs bien delimitadas y punto de entrada unificado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 spc="-53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El API Gateway actúa como punto único de acceso, simplificando al frontend el consumo de servicios (solo habla con /api). Por detrás, los endpoints están organizados por servicio, con rutas y responsabilidades claras, evitando mezclas y duplicidades.</a:t>
            </a:r>
          </a:p>
          <a:p>
            <a:pPr algn="just">
              <a:lnSpc>
                <a:spcPts val="2340"/>
              </a:lnSpc>
            </a:pPr>
          </a:p>
          <a:p>
            <a:pPr algn="just" marL="431799" indent="-215899" lvl="1">
              <a:lnSpc>
                <a:spcPts val="2599"/>
              </a:lnSpc>
              <a:buFont typeface="Arial"/>
              <a:buChar char="•"/>
            </a:pPr>
            <a:r>
              <a:rPr lang="en-US" b="true" sz="1999" spc="-59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Documentación y trazabilidad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 spc="-53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El servicio de productos ofrece Swagger/OpenAPI (/docs), lo que permite probar endpoints, entender el contrato y validar rápidamente el funcionamiento. Esto aporta profesionalidad y facilita testing y mantenimiento.</a:t>
            </a:r>
          </a:p>
          <a:p>
            <a:pPr algn="just">
              <a:lnSpc>
                <a:spcPts val="2340"/>
              </a:lnSpc>
            </a:pPr>
          </a:p>
          <a:p>
            <a:pPr algn="just" marL="431799" indent="-215899" lvl="1">
              <a:lnSpc>
                <a:spcPts val="2599"/>
              </a:lnSpc>
              <a:buFont typeface="Arial"/>
              <a:buChar char="•"/>
            </a:pPr>
            <a:r>
              <a:rPr lang="en-US" b="true" sz="1999" spc="-59">
                <a:solidFill>
                  <a:srgbClr val="EDF2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Buenas prácticas técnicas aplicadas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 spc="-53">
                <a:solidFill>
                  <a:srgbClr val="EDF2F4"/>
                </a:solidFill>
                <a:latin typeface="Open Sauce"/>
                <a:ea typeface="Open Sauce"/>
                <a:cs typeface="Open Sauce"/>
                <a:sym typeface="Open Sauce"/>
              </a:rPr>
              <a:t>Uso de variables de entorno, secreto JWT compartido, separación de configuración por servicio y orientación a seguridad y despliegue. Aunque sea un proyecto académico, está construido con una base sólida como para evolucionar.</a:t>
            </a:r>
          </a:p>
          <a:p>
            <a:pPr algn="just">
              <a:lnSpc>
                <a:spcPts val="2340"/>
              </a:lnSpc>
            </a:pP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156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3309" y="2461470"/>
            <a:ext cx="12441382" cy="48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7"/>
              </a:lnSpc>
            </a:pPr>
            <a:r>
              <a:rPr lang="en-US" sz="13805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MODELO DE </a:t>
            </a:r>
          </a:p>
          <a:p>
            <a:pPr algn="ctr">
              <a:lnSpc>
                <a:spcPts val="19327"/>
              </a:lnSpc>
              <a:spcBef>
                <a:spcPct val="0"/>
              </a:spcBef>
            </a:pPr>
            <a:r>
              <a:rPr lang="en-US" sz="13805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DATOS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2202684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3"/>
                </a:lnTo>
                <a:lnTo>
                  <a:pt x="0" y="34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028700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5063371" y="0"/>
                </a:moveTo>
                <a:lnTo>
                  <a:pt x="0" y="0"/>
                </a:lnTo>
                <a:lnTo>
                  <a:pt x="0" y="349833"/>
                </a:lnTo>
                <a:lnTo>
                  <a:pt x="5063371" y="349833"/>
                </a:lnTo>
                <a:lnTo>
                  <a:pt x="50633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2063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0" y="0"/>
                </a:moveTo>
                <a:lnTo>
                  <a:pt x="530920" y="0"/>
                </a:lnTo>
                <a:lnTo>
                  <a:pt x="530920" y="250980"/>
                </a:lnTo>
                <a:lnTo>
                  <a:pt x="0" y="250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805017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530920" y="0"/>
                </a:moveTo>
                <a:lnTo>
                  <a:pt x="0" y="0"/>
                </a:lnTo>
                <a:lnTo>
                  <a:pt x="0" y="250980"/>
                </a:lnTo>
                <a:lnTo>
                  <a:pt x="530920" y="250980"/>
                </a:lnTo>
                <a:lnTo>
                  <a:pt x="5309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2732261" y="9083384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2"/>
                </a:lnTo>
                <a:lnTo>
                  <a:pt x="0" y="349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24661" y="573001"/>
            <a:ext cx="3086100" cy="2859697"/>
            <a:chOff x="0" y="0"/>
            <a:chExt cx="812800" cy="7531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53171"/>
            </a:xfrm>
            <a:custGeom>
              <a:avLst/>
              <a:gdLst/>
              <a:ahLst/>
              <a:cxnLst/>
              <a:rect r="r" b="b" t="t" l="l"/>
              <a:pathLst>
                <a:path h="753171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10524"/>
                  </a:lnTo>
                  <a:cubicBezTo>
                    <a:pt x="812800" y="721835"/>
                    <a:pt x="808307" y="732682"/>
                    <a:pt x="800309" y="740680"/>
                  </a:cubicBezTo>
                  <a:cubicBezTo>
                    <a:pt x="792311" y="748678"/>
                    <a:pt x="781464" y="753171"/>
                    <a:pt x="770153" y="753171"/>
                  </a:cubicBezTo>
                  <a:lnTo>
                    <a:pt x="42647" y="753171"/>
                  </a:lnTo>
                  <a:cubicBezTo>
                    <a:pt x="31336" y="753171"/>
                    <a:pt x="20489" y="748678"/>
                    <a:pt x="12491" y="740680"/>
                  </a:cubicBezTo>
                  <a:cubicBezTo>
                    <a:pt x="4493" y="732682"/>
                    <a:pt x="0" y="721835"/>
                    <a:pt x="0" y="71052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12800" cy="77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32334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Usuario</a:t>
              </a:r>
              <a:r>
                <a:rPr lang="en-US" b="true" sz="1899" spc="-56">
                  <a:solidFill>
                    <a:srgbClr val="32334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32334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id_usuario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32334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nombre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32334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email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32334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contraseña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32334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dirección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32334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rol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32334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fecha_registro</a:t>
              </a:r>
            </a:p>
            <a:p>
              <a:pPr algn="ctr">
                <a:lnSpc>
                  <a:spcPts val="24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78336" y="2002849"/>
            <a:ext cx="3086100" cy="1640497"/>
            <a:chOff x="0" y="0"/>
            <a:chExt cx="812800" cy="4320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32065"/>
            </a:xfrm>
            <a:custGeom>
              <a:avLst/>
              <a:gdLst/>
              <a:ahLst/>
              <a:cxnLst/>
              <a:rect r="r" b="b" t="t" l="l"/>
              <a:pathLst>
                <a:path h="432065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389418"/>
                  </a:lnTo>
                  <a:cubicBezTo>
                    <a:pt x="812800" y="412971"/>
                    <a:pt x="793706" y="432065"/>
                    <a:pt x="770153" y="432065"/>
                  </a:cubicBezTo>
                  <a:lnTo>
                    <a:pt x="42647" y="432065"/>
                  </a:lnTo>
                  <a:cubicBezTo>
                    <a:pt x="31336" y="432065"/>
                    <a:pt x="20489" y="427572"/>
                    <a:pt x="12491" y="419574"/>
                  </a:cubicBezTo>
                  <a:cubicBezTo>
                    <a:pt x="4493" y="411576"/>
                    <a:pt x="0" y="400729"/>
                    <a:pt x="0" y="389418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12800" cy="451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Favoritos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id_favorito (PK)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id_usuario (FK)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id_producto</a:t>
              </a:r>
            </a:p>
            <a:p>
              <a:pPr algn="ctr">
                <a:lnSpc>
                  <a:spcPts val="24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3888" y="5506751"/>
            <a:ext cx="3067498" cy="3774097"/>
            <a:chOff x="0" y="0"/>
            <a:chExt cx="807901" cy="9940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7901" cy="994001"/>
            </a:xfrm>
            <a:custGeom>
              <a:avLst/>
              <a:gdLst/>
              <a:ahLst/>
              <a:cxnLst/>
              <a:rect r="r" b="b" t="t" l="l"/>
              <a:pathLst>
                <a:path h="994001" w="807901">
                  <a:moveTo>
                    <a:pt x="42906" y="0"/>
                  </a:moveTo>
                  <a:lnTo>
                    <a:pt x="764995" y="0"/>
                  </a:lnTo>
                  <a:cubicBezTo>
                    <a:pt x="776374" y="0"/>
                    <a:pt x="787288" y="4520"/>
                    <a:pt x="795334" y="12567"/>
                  </a:cubicBezTo>
                  <a:cubicBezTo>
                    <a:pt x="803380" y="20613"/>
                    <a:pt x="807901" y="31526"/>
                    <a:pt x="807901" y="42906"/>
                  </a:cubicBezTo>
                  <a:lnTo>
                    <a:pt x="807901" y="951095"/>
                  </a:lnTo>
                  <a:cubicBezTo>
                    <a:pt x="807901" y="974791"/>
                    <a:pt x="788691" y="994001"/>
                    <a:pt x="764995" y="994001"/>
                  </a:cubicBezTo>
                  <a:lnTo>
                    <a:pt x="42906" y="994001"/>
                  </a:lnTo>
                  <a:cubicBezTo>
                    <a:pt x="19209" y="994001"/>
                    <a:pt x="0" y="974791"/>
                    <a:pt x="0" y="951095"/>
                  </a:cubicBezTo>
                  <a:lnTo>
                    <a:pt x="0" y="42906"/>
                  </a:lnTo>
                  <a:cubicBezTo>
                    <a:pt x="0" y="19209"/>
                    <a:pt x="19209" y="0"/>
                    <a:pt x="42906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07901" cy="10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Producto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nombre 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categoria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deporte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color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marca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precio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stock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descripcion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imagen_url 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disponible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27531" y="6170019"/>
            <a:ext cx="3327931" cy="2250097"/>
            <a:chOff x="0" y="0"/>
            <a:chExt cx="876492" cy="5926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6492" cy="592618"/>
            </a:xfrm>
            <a:custGeom>
              <a:avLst/>
              <a:gdLst/>
              <a:ahLst/>
              <a:cxnLst/>
              <a:rect r="r" b="b" t="t" l="l"/>
              <a:pathLst>
                <a:path h="592618" w="876492">
                  <a:moveTo>
                    <a:pt x="39548" y="0"/>
                  </a:moveTo>
                  <a:lnTo>
                    <a:pt x="836944" y="0"/>
                  </a:lnTo>
                  <a:cubicBezTo>
                    <a:pt x="847433" y="0"/>
                    <a:pt x="857492" y="4167"/>
                    <a:pt x="864909" y="11583"/>
                  </a:cubicBezTo>
                  <a:cubicBezTo>
                    <a:pt x="872326" y="19000"/>
                    <a:pt x="876492" y="29059"/>
                    <a:pt x="876492" y="39548"/>
                  </a:cubicBezTo>
                  <a:lnTo>
                    <a:pt x="876492" y="553070"/>
                  </a:lnTo>
                  <a:cubicBezTo>
                    <a:pt x="876492" y="563559"/>
                    <a:pt x="872326" y="573618"/>
                    <a:pt x="864909" y="581035"/>
                  </a:cubicBezTo>
                  <a:cubicBezTo>
                    <a:pt x="857492" y="588451"/>
                    <a:pt x="847433" y="592618"/>
                    <a:pt x="836944" y="592618"/>
                  </a:cubicBezTo>
                  <a:lnTo>
                    <a:pt x="39548" y="592618"/>
                  </a:lnTo>
                  <a:cubicBezTo>
                    <a:pt x="29059" y="592618"/>
                    <a:pt x="19000" y="588451"/>
                    <a:pt x="11583" y="581035"/>
                  </a:cubicBezTo>
                  <a:cubicBezTo>
                    <a:pt x="4167" y="573618"/>
                    <a:pt x="0" y="563559"/>
                    <a:pt x="0" y="553070"/>
                  </a:cubicBezTo>
                  <a:lnTo>
                    <a:pt x="0" y="39548"/>
                  </a:lnTo>
                  <a:cubicBezTo>
                    <a:pt x="0" y="29059"/>
                    <a:pt x="4167" y="19000"/>
                    <a:pt x="11583" y="11583"/>
                  </a:cubicBezTo>
                  <a:cubicBezTo>
                    <a:pt x="19000" y="4167"/>
                    <a:pt x="29059" y="0"/>
                    <a:pt x="39548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76492" cy="611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Carrito</a:t>
              </a:r>
            </a:p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</a:t>
              </a: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d_carrito (PK)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id_usuario (FK)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fecha_actualizacion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id_producto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cantidad</a:t>
              </a:r>
            </a:p>
            <a:p>
              <a:pPr algn="ctr">
                <a:lnSpc>
                  <a:spcPts val="246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87036" y="6170019"/>
            <a:ext cx="3086100" cy="2250097"/>
            <a:chOff x="0" y="0"/>
            <a:chExt cx="812800" cy="5926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592618"/>
            </a:xfrm>
            <a:custGeom>
              <a:avLst/>
              <a:gdLst/>
              <a:ahLst/>
              <a:cxnLst/>
              <a:rect r="r" b="b" t="t" l="l"/>
              <a:pathLst>
                <a:path h="592618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549971"/>
                  </a:lnTo>
                  <a:cubicBezTo>
                    <a:pt x="812800" y="561282"/>
                    <a:pt x="808307" y="572129"/>
                    <a:pt x="800309" y="580127"/>
                  </a:cubicBezTo>
                  <a:cubicBezTo>
                    <a:pt x="792311" y="588125"/>
                    <a:pt x="781464" y="592618"/>
                    <a:pt x="770153" y="592618"/>
                  </a:cubicBezTo>
                  <a:lnTo>
                    <a:pt x="42647" y="592618"/>
                  </a:lnTo>
                  <a:cubicBezTo>
                    <a:pt x="19094" y="592618"/>
                    <a:pt x="0" y="573524"/>
                    <a:pt x="0" y="549971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611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Pedido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id_pedido (PK)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id_usuario (FK)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fecha_pedido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total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estado</a:t>
              </a:r>
            </a:p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821146" y="2835961"/>
            <a:ext cx="3086100" cy="1945297"/>
            <a:chOff x="0" y="0"/>
            <a:chExt cx="812800" cy="5123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512342"/>
            </a:xfrm>
            <a:custGeom>
              <a:avLst/>
              <a:gdLst/>
              <a:ahLst/>
              <a:cxnLst/>
              <a:rect r="r" b="b" t="t" l="l"/>
              <a:pathLst>
                <a:path h="512342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469695"/>
                  </a:lnTo>
                  <a:cubicBezTo>
                    <a:pt x="812800" y="481005"/>
                    <a:pt x="808307" y="491853"/>
                    <a:pt x="800309" y="499851"/>
                  </a:cubicBezTo>
                  <a:cubicBezTo>
                    <a:pt x="792311" y="507848"/>
                    <a:pt x="781464" y="512342"/>
                    <a:pt x="770153" y="512342"/>
                  </a:cubicBezTo>
                  <a:lnTo>
                    <a:pt x="42647" y="512342"/>
                  </a:lnTo>
                  <a:cubicBezTo>
                    <a:pt x="31336" y="512342"/>
                    <a:pt x="20489" y="507848"/>
                    <a:pt x="12491" y="499851"/>
                  </a:cubicBezTo>
                  <a:cubicBezTo>
                    <a:pt x="4493" y="491853"/>
                    <a:pt x="0" y="481005"/>
                    <a:pt x="0" y="469695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78A8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12800" cy="531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69"/>
                </a:lnSpc>
              </a:pPr>
              <a:r>
                <a:rPr lang="en-US" b="true" sz="1899" spc="-56">
                  <a:solidFill>
                    <a:srgbClr val="2B2D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Pedido_Productos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id_pedido (FK)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id_producto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cantidad</a:t>
              </a:r>
            </a:p>
            <a:p>
              <a:pPr algn="ctr">
                <a:lnSpc>
                  <a:spcPts val="2469"/>
                </a:lnSpc>
              </a:pPr>
              <a:r>
                <a:rPr lang="en-US" sz="1899" spc="-56">
                  <a:solidFill>
                    <a:srgbClr val="2B2D42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precio_unitario</a:t>
              </a:r>
            </a:p>
            <a:p>
              <a:pPr algn="ctr">
                <a:lnSpc>
                  <a:spcPts val="246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4321386" y="2002849"/>
            <a:ext cx="35032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2787637" y="3643346"/>
            <a:ext cx="1533749" cy="186340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6791496" y="3432698"/>
            <a:ext cx="2576216" cy="273732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 flipV="true">
            <a:off x="9367711" y="3432698"/>
            <a:ext cx="2762375" cy="273732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13673136" y="3808610"/>
            <a:ext cx="1148010" cy="348645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4551600" y="1094503"/>
            <a:ext cx="240244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899" spc="-56">
                <a:solidFill>
                  <a:srgbClr val="FFE2E2"/>
                </a:solidFill>
                <a:latin typeface="Open Sauce"/>
                <a:ea typeface="Open Sauce"/>
                <a:cs typeface="Open Sauce"/>
                <a:sym typeface="Open Sauce"/>
              </a:rPr>
              <a:t>tiene lista de favoritos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44525" y="4621873"/>
            <a:ext cx="2153722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899" spc="-56">
                <a:solidFill>
                  <a:srgbClr val="FFE2E2"/>
                </a:solidFill>
                <a:latin typeface="Open Sauce"/>
                <a:ea typeface="Open Sauce"/>
                <a:cs typeface="Open Sauce"/>
                <a:sym typeface="Open Sauce"/>
              </a:rPr>
              <a:t>contiene productos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07893" y="4481538"/>
            <a:ext cx="1633538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899" spc="-56">
                <a:solidFill>
                  <a:srgbClr val="FFE2E2"/>
                </a:solidFill>
                <a:latin typeface="Open Sauce"/>
                <a:ea typeface="Open Sauce"/>
                <a:cs typeface="Open Sauce"/>
                <a:sym typeface="Open Sauce"/>
              </a:rPr>
              <a:t>tiene un carrito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24250" y="4481538"/>
            <a:ext cx="1866067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899" spc="-56">
                <a:solidFill>
                  <a:srgbClr val="FFE2E2"/>
                </a:solidFill>
                <a:latin typeface="Open Sauce"/>
                <a:ea typeface="Open Sauce"/>
                <a:cs typeface="Open Sauce"/>
                <a:sym typeface="Open Sauce"/>
              </a:rPr>
              <a:t>realiza un pedido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07122" y="6150969"/>
            <a:ext cx="2153722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  <a:spcBef>
                <a:spcPct val="0"/>
              </a:spcBef>
            </a:pPr>
            <a:r>
              <a:rPr lang="en-US" sz="1899" spc="-56">
                <a:solidFill>
                  <a:srgbClr val="FFE2E2"/>
                </a:solidFill>
                <a:latin typeface="Open Sauce"/>
                <a:ea typeface="Open Sauce"/>
                <a:cs typeface="Open Sauce"/>
                <a:sym typeface="Open Sauce"/>
              </a:rPr>
              <a:t>contiene productos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3309" y="3434452"/>
            <a:ext cx="12441382" cy="235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7"/>
              </a:lnSpc>
              <a:spcBef>
                <a:spcPct val="0"/>
              </a:spcBef>
            </a:pPr>
            <a:r>
              <a:rPr lang="en-US" sz="13805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DEMO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2202684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3"/>
                </a:lnTo>
                <a:lnTo>
                  <a:pt x="0" y="34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028700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5063371" y="0"/>
                </a:moveTo>
                <a:lnTo>
                  <a:pt x="0" y="0"/>
                </a:lnTo>
                <a:lnTo>
                  <a:pt x="0" y="349833"/>
                </a:lnTo>
                <a:lnTo>
                  <a:pt x="5063371" y="349833"/>
                </a:lnTo>
                <a:lnTo>
                  <a:pt x="50633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2063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0" y="0"/>
                </a:moveTo>
                <a:lnTo>
                  <a:pt x="530920" y="0"/>
                </a:lnTo>
                <a:lnTo>
                  <a:pt x="530920" y="250980"/>
                </a:lnTo>
                <a:lnTo>
                  <a:pt x="0" y="250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805017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530920" y="0"/>
                </a:moveTo>
                <a:lnTo>
                  <a:pt x="0" y="0"/>
                </a:lnTo>
                <a:lnTo>
                  <a:pt x="0" y="250980"/>
                </a:lnTo>
                <a:lnTo>
                  <a:pt x="530920" y="250980"/>
                </a:lnTo>
                <a:lnTo>
                  <a:pt x="5309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3309" y="4081220"/>
            <a:ext cx="12441382" cy="1251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0"/>
              </a:lnSpc>
              <a:spcBef>
                <a:spcPct val="0"/>
              </a:spcBef>
            </a:pPr>
            <a:r>
              <a:rPr lang="en-US" sz="3607" i="true" u="sng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  <a:hlinkClick r:id="rId2" tooltip="https://drive.google.com/file/d/1_2a566Gy3LzVn-g2IxZ7ZtyQ9kF_dMed/view?usp=sharing"/>
              </a:rPr>
              <a:t>HTTPS://DRIVE.GOOGLE.COM/FILE/D/1_2A566GY3LZVN-G2IXZ7ZTYQ9KF_DMED/VIEW?USP=SHARING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12202684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0" y="0"/>
                </a:moveTo>
                <a:lnTo>
                  <a:pt x="5063371" y="0"/>
                </a:lnTo>
                <a:lnTo>
                  <a:pt x="5063371" y="349833"/>
                </a:lnTo>
                <a:lnTo>
                  <a:pt x="0" y="349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028700" y="8908467"/>
            <a:ext cx="5063371" cy="349833"/>
          </a:xfrm>
          <a:custGeom>
            <a:avLst/>
            <a:gdLst/>
            <a:ahLst/>
            <a:cxnLst/>
            <a:rect r="r" b="b" t="t" l="l"/>
            <a:pathLst>
              <a:path h="349833" w="5063371">
                <a:moveTo>
                  <a:pt x="5063371" y="0"/>
                </a:moveTo>
                <a:lnTo>
                  <a:pt x="0" y="0"/>
                </a:lnTo>
                <a:lnTo>
                  <a:pt x="0" y="349833"/>
                </a:lnTo>
                <a:lnTo>
                  <a:pt x="5063371" y="349833"/>
                </a:lnTo>
                <a:lnTo>
                  <a:pt x="506337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2063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0" y="0"/>
                </a:moveTo>
                <a:lnTo>
                  <a:pt x="530920" y="0"/>
                </a:lnTo>
                <a:lnTo>
                  <a:pt x="530920" y="250980"/>
                </a:lnTo>
                <a:lnTo>
                  <a:pt x="0" y="2509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805017" y="4740257"/>
            <a:ext cx="530920" cy="250980"/>
          </a:xfrm>
          <a:custGeom>
            <a:avLst/>
            <a:gdLst/>
            <a:ahLst/>
            <a:cxnLst/>
            <a:rect r="r" b="b" t="t" l="l"/>
            <a:pathLst>
              <a:path h="250980" w="530920">
                <a:moveTo>
                  <a:pt x="530920" y="0"/>
                </a:moveTo>
                <a:lnTo>
                  <a:pt x="0" y="0"/>
                </a:lnTo>
                <a:lnTo>
                  <a:pt x="0" y="250980"/>
                </a:lnTo>
                <a:lnTo>
                  <a:pt x="530920" y="250980"/>
                </a:lnTo>
                <a:lnTo>
                  <a:pt x="5309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507777" cy="2507777"/>
          </a:xfrm>
          <a:custGeom>
            <a:avLst/>
            <a:gdLst/>
            <a:ahLst/>
            <a:cxnLst/>
            <a:rect r="r" b="b" t="t" l="l"/>
            <a:pathLst>
              <a:path h="2507777" w="2507777">
                <a:moveTo>
                  <a:pt x="0" y="0"/>
                </a:moveTo>
                <a:lnTo>
                  <a:pt x="2507777" y="0"/>
                </a:lnTo>
                <a:lnTo>
                  <a:pt x="2507777" y="2507777"/>
                </a:lnTo>
                <a:lnTo>
                  <a:pt x="0" y="2507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5603" y="1450699"/>
            <a:ext cx="14650153" cy="1309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  <a:spcBef>
                <a:spcPct val="0"/>
              </a:spcBef>
            </a:pPr>
            <a:r>
              <a:rPr lang="en-US" sz="7700" i="true">
                <a:solidFill>
                  <a:srgbClr val="EDF2F4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CONCLUSIONES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2622" y="4262293"/>
            <a:ext cx="15032474" cy="332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Arq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uite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tu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p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 microservicios clar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y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fác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 (usuarios, productos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pedidos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3119"/>
              </a:lnSpc>
            </a:pP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ate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uni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ica el a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cc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y simpli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 el consumo desde el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fr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ontend (/api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3119"/>
              </a:lnSpc>
            </a:pP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ecno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gí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as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bien el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eg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idas por do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nio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os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tg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SQL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catálo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DB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para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usu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ario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s/p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edid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s.</a:t>
            </a:r>
          </a:p>
          <a:p>
            <a:pPr algn="just">
              <a:lnSpc>
                <a:spcPts val="3119"/>
              </a:lnSpc>
            </a:pP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APIs d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ocumentada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Swagger/OpenAPI) y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á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iles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pro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 marL="518155" indent="-259078" lvl="1">
              <a:lnSpc>
                <a:spcPts val="3119"/>
              </a:lnSpc>
              <a:buFont typeface="Arial"/>
              <a:buChar char="•"/>
            </a:pP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espli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gu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 reproduci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senci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ll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con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ck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om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399" spc="-7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e.</a:t>
            </a:r>
          </a:p>
          <a:p>
            <a:pPr algn="just">
              <a:lnSpc>
                <a:spcPts val="156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DAG9cRReiQI</dc:identifier>
  <dcterms:modified xsi:type="dcterms:W3CDTF">2011-08-01T06:04:30Z</dcterms:modified>
  <cp:revision>1</cp:revision>
  <dc:title>Entrega Final-Desarrollo avanzado para la web de datos</dc:title>
</cp:coreProperties>
</file>